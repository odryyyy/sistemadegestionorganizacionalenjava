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84" y="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drey Castro" userId="6006c0e25244e144" providerId="LiveId" clId="{EDDF3A23-1A64-4633-99E3-B261775EADAA}"/>
    <pc:docChg chg="undo custSel modSld">
      <pc:chgData name="Audrey Castro" userId="6006c0e25244e144" providerId="LiveId" clId="{EDDF3A23-1A64-4633-99E3-B261775EADAA}" dt="2026-08-04T00:01:48.634" v="54" actId="1076"/>
      <pc:docMkLst>
        <pc:docMk/>
      </pc:docMkLst>
      <pc:sldChg chg="addSp delSp modSp mod">
        <pc:chgData name="Audrey Castro" userId="6006c0e25244e144" providerId="LiveId" clId="{EDDF3A23-1A64-4633-99E3-B261775EADAA}" dt="2026-08-03T23:51:08.287" v="6" actId="14100"/>
        <pc:sldMkLst>
          <pc:docMk/>
          <pc:sldMk cId="0" sldId="261"/>
        </pc:sldMkLst>
        <pc:picChg chg="add mod">
          <ac:chgData name="Audrey Castro" userId="6006c0e25244e144" providerId="LiveId" clId="{EDDF3A23-1A64-4633-99E3-B261775EADAA}" dt="2026-08-03T23:51:08.287" v="6" actId="14100"/>
          <ac:picMkLst>
            <pc:docMk/>
            <pc:sldMk cId="0" sldId="261"/>
            <ac:picMk id="8" creationId="{71020D78-EAEC-4803-ADE1-2BD4EB06138E}"/>
          </ac:picMkLst>
        </pc:picChg>
        <pc:picChg chg="del">
          <ac:chgData name="Audrey Castro" userId="6006c0e25244e144" providerId="LiveId" clId="{EDDF3A23-1A64-4633-99E3-B261775EADAA}" dt="2026-08-03T23:51:04.050" v="5" actId="478"/>
          <ac:picMkLst>
            <pc:docMk/>
            <pc:sldMk cId="0" sldId="261"/>
            <ac:picMk id="10" creationId="{08E85937-3EAE-F345-679C-06C4D5932968}"/>
          </ac:picMkLst>
        </pc:picChg>
      </pc:sldChg>
      <pc:sldChg chg="addSp delSp modSp mod">
        <pc:chgData name="Audrey Castro" userId="6006c0e25244e144" providerId="LiveId" clId="{EDDF3A23-1A64-4633-99E3-B261775EADAA}" dt="2026-08-03T23:55:04.857" v="32" actId="1076"/>
        <pc:sldMkLst>
          <pc:docMk/>
          <pc:sldMk cId="0" sldId="262"/>
        </pc:sldMkLst>
        <pc:picChg chg="mod">
          <ac:chgData name="Audrey Castro" userId="6006c0e25244e144" providerId="LiveId" clId="{EDDF3A23-1A64-4633-99E3-B261775EADAA}" dt="2026-08-03T23:55:04.857" v="32" actId="1076"/>
          <ac:picMkLst>
            <pc:docMk/>
            <pc:sldMk cId="0" sldId="262"/>
            <ac:picMk id="2" creationId="{00000000-0000-0000-0000-000000000000}"/>
          </ac:picMkLst>
        </pc:picChg>
        <pc:picChg chg="add mod">
          <ac:chgData name="Audrey Castro" userId="6006c0e25244e144" providerId="LiveId" clId="{EDDF3A23-1A64-4633-99E3-B261775EADAA}" dt="2026-08-03T23:53:06.701" v="13" actId="1076"/>
          <ac:picMkLst>
            <pc:docMk/>
            <pc:sldMk cId="0" sldId="262"/>
            <ac:picMk id="15" creationId="{6F6D6D5D-2020-45D8-ADAC-EEC2BED31C67}"/>
          </ac:picMkLst>
        </pc:picChg>
        <pc:picChg chg="del">
          <ac:chgData name="Audrey Castro" userId="6006c0e25244e144" providerId="LiveId" clId="{EDDF3A23-1A64-4633-99E3-B261775EADAA}" dt="2026-08-03T23:53:00.564" v="12" actId="478"/>
          <ac:picMkLst>
            <pc:docMk/>
            <pc:sldMk cId="0" sldId="262"/>
            <ac:picMk id="17" creationId="{815F502E-FD48-5368-34D8-E2D2302CEB37}"/>
          </ac:picMkLst>
        </pc:picChg>
        <pc:picChg chg="del">
          <ac:chgData name="Audrey Castro" userId="6006c0e25244e144" providerId="LiveId" clId="{EDDF3A23-1A64-4633-99E3-B261775EADAA}" dt="2026-08-03T23:53:44.205" v="17" actId="478"/>
          <ac:picMkLst>
            <pc:docMk/>
            <pc:sldMk cId="0" sldId="262"/>
            <ac:picMk id="18" creationId="{3F6C2356-53C6-4B97-8AC5-70EEF225039D}"/>
          </ac:picMkLst>
        </pc:picChg>
        <pc:picChg chg="del">
          <ac:chgData name="Audrey Castro" userId="6006c0e25244e144" providerId="LiveId" clId="{EDDF3A23-1A64-4633-99E3-B261775EADAA}" dt="2026-08-03T23:54:56.940" v="30" actId="478"/>
          <ac:picMkLst>
            <pc:docMk/>
            <pc:sldMk cId="0" sldId="262"/>
            <ac:picMk id="19" creationId="{2DD4F636-833B-CDD3-B1C9-9DA4B2F0DF36}"/>
          </ac:picMkLst>
        </pc:picChg>
        <pc:picChg chg="add mod">
          <ac:chgData name="Audrey Castro" userId="6006c0e25244e144" providerId="LiveId" clId="{EDDF3A23-1A64-4633-99E3-B261775EADAA}" dt="2026-08-03T23:53:56.436" v="24" actId="1076"/>
          <ac:picMkLst>
            <pc:docMk/>
            <pc:sldMk cId="0" sldId="262"/>
            <ac:picMk id="20" creationId="{EAF80C48-D9DE-402A-BC13-441FF3A1BFE6}"/>
          </ac:picMkLst>
        </pc:picChg>
        <pc:picChg chg="add mod">
          <ac:chgData name="Audrey Castro" userId="6006c0e25244e144" providerId="LiveId" clId="{EDDF3A23-1A64-4633-99E3-B261775EADAA}" dt="2026-08-03T23:55:03.234" v="31" actId="1076"/>
          <ac:picMkLst>
            <pc:docMk/>
            <pc:sldMk cId="0" sldId="262"/>
            <ac:picMk id="22" creationId="{B60C4AA9-DB99-4F55-AEB1-5CB216400029}"/>
          </ac:picMkLst>
        </pc:picChg>
      </pc:sldChg>
      <pc:sldChg chg="addSp delSp modSp mod">
        <pc:chgData name="Audrey Castro" userId="6006c0e25244e144" providerId="LiveId" clId="{EDDF3A23-1A64-4633-99E3-B261775EADAA}" dt="2026-08-04T00:01:48.634" v="54" actId="1076"/>
        <pc:sldMkLst>
          <pc:docMk/>
          <pc:sldMk cId="4218520434" sldId="266"/>
        </pc:sldMkLst>
        <pc:picChg chg="mod">
          <ac:chgData name="Audrey Castro" userId="6006c0e25244e144" providerId="LiveId" clId="{EDDF3A23-1A64-4633-99E3-B261775EADAA}" dt="2026-08-04T00:01:48.634" v="54" actId="1076"/>
          <ac:picMkLst>
            <pc:docMk/>
            <pc:sldMk cId="4218520434" sldId="266"/>
            <ac:picMk id="2" creationId="{AAB00E36-8823-95DC-5908-B901466A4AE8}"/>
          </ac:picMkLst>
        </pc:picChg>
        <pc:picChg chg="del">
          <ac:chgData name="Audrey Castro" userId="6006c0e25244e144" providerId="LiveId" clId="{EDDF3A23-1A64-4633-99E3-B261775EADAA}" dt="2026-08-03T23:59:16.730" v="36" actId="478"/>
          <ac:picMkLst>
            <pc:docMk/>
            <pc:sldMk cId="4218520434" sldId="266"/>
            <ac:picMk id="14" creationId="{97CFC6C0-5335-E248-DA10-D84B0BAA5D06}"/>
          </ac:picMkLst>
        </pc:picChg>
        <pc:picChg chg="del">
          <ac:chgData name="Audrey Castro" userId="6006c0e25244e144" providerId="LiveId" clId="{EDDF3A23-1A64-4633-99E3-B261775EADAA}" dt="2026-08-04T00:00:11.250" v="46" actId="478"/>
          <ac:picMkLst>
            <pc:docMk/>
            <pc:sldMk cId="4218520434" sldId="266"/>
            <ac:picMk id="15" creationId="{59F64BEC-4AE2-A04B-BAE9-AD92269BFBC3}"/>
          </ac:picMkLst>
        </pc:picChg>
        <pc:picChg chg="del">
          <ac:chgData name="Audrey Castro" userId="6006c0e25244e144" providerId="LiveId" clId="{EDDF3A23-1A64-4633-99E3-B261775EADAA}" dt="2026-08-04T00:01:43.136" v="52" actId="478"/>
          <ac:picMkLst>
            <pc:docMk/>
            <pc:sldMk cId="4218520434" sldId="266"/>
            <ac:picMk id="16" creationId="{08DAC22E-1E47-C513-C2FD-4DBC98FA1C66}"/>
          </ac:picMkLst>
        </pc:picChg>
        <pc:picChg chg="add mod">
          <ac:chgData name="Audrey Castro" userId="6006c0e25244e144" providerId="LiveId" clId="{EDDF3A23-1A64-4633-99E3-B261775EADAA}" dt="2026-08-03T23:59:23.267" v="37" actId="1076"/>
          <ac:picMkLst>
            <pc:docMk/>
            <pc:sldMk cId="4218520434" sldId="266"/>
            <ac:picMk id="18" creationId="{2451C2C7-D127-4250-A9CB-E646A9876CC2}"/>
          </ac:picMkLst>
        </pc:picChg>
        <pc:picChg chg="add mod">
          <ac:chgData name="Audrey Castro" userId="6006c0e25244e144" providerId="LiveId" clId="{EDDF3A23-1A64-4633-99E3-B261775EADAA}" dt="2026-08-03T23:59:53.340" v="41" actId="571"/>
          <ac:picMkLst>
            <pc:docMk/>
            <pc:sldMk cId="4218520434" sldId="266"/>
            <ac:picMk id="19" creationId="{44B32EB4-0CDB-4FAE-AABC-176989B1743C}"/>
          </ac:picMkLst>
        </pc:picChg>
        <pc:picChg chg="add del">
          <ac:chgData name="Audrey Castro" userId="6006c0e25244e144" providerId="LiveId" clId="{EDDF3A23-1A64-4633-99E3-B261775EADAA}" dt="2026-08-03T23:59:52.226" v="40" actId="22"/>
          <ac:picMkLst>
            <pc:docMk/>
            <pc:sldMk cId="4218520434" sldId="266"/>
            <ac:picMk id="21" creationId="{45EAE471-983B-4FBC-9C7A-C85D2248D48C}"/>
          </ac:picMkLst>
        </pc:picChg>
        <pc:picChg chg="add mod">
          <ac:chgData name="Audrey Castro" userId="6006c0e25244e144" providerId="LiveId" clId="{EDDF3A23-1A64-4633-99E3-B261775EADAA}" dt="2026-08-04T00:00:17.728" v="47" actId="1076"/>
          <ac:picMkLst>
            <pc:docMk/>
            <pc:sldMk cId="4218520434" sldId="266"/>
            <ac:picMk id="23" creationId="{385C2FFF-6F8D-46AC-8118-70D6AA287277}"/>
          </ac:picMkLst>
        </pc:picChg>
        <pc:picChg chg="add mod">
          <ac:chgData name="Audrey Castro" userId="6006c0e25244e144" providerId="LiveId" clId="{EDDF3A23-1A64-4633-99E3-B261775EADAA}" dt="2026-08-04T00:01:47.309" v="53" actId="1076"/>
          <ac:picMkLst>
            <pc:docMk/>
            <pc:sldMk cId="4218520434" sldId="266"/>
            <ac:picMk id="25" creationId="{BD8EB3DD-1ADA-4469-A33B-90CBCD19E5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68768-7F83-41C2-AE4B-C68F1E865658}" type="datetimeFigureOut">
              <a:rPr lang="es-ES" smtClean="0"/>
              <a:t>03/08/2026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51857-B405-4400-909F-F961F26A23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090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51857-B405-4400-909F-F961F26A237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5907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31.png"/><Relationship Id="rId4" Type="http://schemas.openxmlformats.org/officeDocument/2006/relationships/image" Target="../media/image22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51657"/>
            <a:ext cx="8572500" cy="41546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05513" y="1932682"/>
            <a:ext cx="7780972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87"/>
              </a:lnSpc>
            </a:pPr>
            <a:r>
              <a:rPr sz="5625" b="1" i="0" u="none" dirty="0">
                <a:solidFill>
                  <a:srgbClr val="F8FAFC"/>
                </a:solidFill>
                <a:latin typeface="Poppins"/>
              </a:rPr>
              <a:t>Sistema de </a:t>
            </a:r>
            <a:r>
              <a:rPr sz="5625" b="1" i="0" u="none" dirty="0" err="1">
                <a:solidFill>
                  <a:srgbClr val="F8FAFC"/>
                </a:solidFill>
                <a:latin typeface="Poppins"/>
              </a:rPr>
              <a:t>Gestión</a:t>
            </a:r>
            <a:r>
              <a:rPr sz="5625" b="1" i="0" u="none" dirty="0">
                <a:solidFill>
                  <a:srgbClr val="F8FAFC"/>
                </a:solidFill>
                <a:latin typeface="Poppins"/>
              </a:rPr>
              <a:t> </a:t>
            </a:r>
            <a:r>
              <a:rPr sz="5625" b="1" i="0" u="none" dirty="0" err="1">
                <a:solidFill>
                  <a:srgbClr val="F8FAFC"/>
                </a:solidFill>
                <a:latin typeface="Poppins"/>
              </a:rPr>
              <a:t>Organizacional</a:t>
            </a:r>
            <a:endParaRPr sz="5625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90775" y="3885307"/>
            <a:ext cx="7410450" cy="748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>
                <a:solidFill>
                  <a:srgbClr val="F8FAFC"/>
                </a:solidFill>
                <a:latin typeface="Lato"/>
              </a:rPr>
              <a:t>Proyecto Final - </a:t>
            </a:r>
            <a:r>
              <a:rPr sz="1950" b="0" i="0" u="none" dirty="0" err="1">
                <a:solidFill>
                  <a:srgbClr val="F8FAFC"/>
                </a:solidFill>
                <a:latin typeface="Lato"/>
              </a:rPr>
              <a:t>Programación</a:t>
            </a:r>
            <a:r>
              <a:rPr sz="1950" b="0" i="0" u="none" dirty="0">
                <a:solidFill>
                  <a:srgbClr val="F8FAFC"/>
                </a:solidFill>
                <a:latin typeface="Lato"/>
              </a:rPr>
              <a:t> </a:t>
            </a:r>
            <a:r>
              <a:rPr sz="1950" b="0" i="0" u="none" dirty="0" err="1">
                <a:solidFill>
                  <a:srgbClr val="F8FAFC"/>
                </a:solidFill>
                <a:latin typeface="Lato"/>
              </a:rPr>
              <a:t>Orientada</a:t>
            </a:r>
            <a:r>
              <a:rPr sz="1950" b="0" i="0" u="none" dirty="0">
                <a:solidFill>
                  <a:srgbClr val="F8FAFC"/>
                </a:solidFill>
                <a:latin typeface="Lato"/>
              </a:rPr>
              <a:t> a </a:t>
            </a:r>
            <a:r>
              <a:rPr sz="1950" b="0" i="0" u="none" dirty="0" err="1">
                <a:solidFill>
                  <a:srgbClr val="F8FAFC"/>
                </a:solidFill>
                <a:latin typeface="Lato"/>
              </a:rPr>
              <a:t>Objetos</a:t>
            </a:r>
            <a:r>
              <a:rPr lang="es-ES" sz="1950" b="0" i="0" u="none" dirty="0">
                <a:solidFill>
                  <a:srgbClr val="F8FAFC"/>
                </a:solidFill>
                <a:latin typeface="Lato"/>
              </a:rPr>
              <a:t> – Grupo #3</a:t>
            </a:r>
            <a:r>
              <a:rPr dirty="0"/>
              <a:t>
</a:t>
            </a:r>
            <a:r>
              <a:rPr sz="1950" b="0" i="0" u="none" dirty="0">
                <a:solidFill>
                  <a:srgbClr val="F8FAFC"/>
                </a:solidFill>
                <a:latin typeface="Lato"/>
              </a:rPr>
              <a:t> Universidad </a:t>
            </a:r>
            <a:r>
              <a:rPr sz="1950" b="0" i="0" u="none" dirty="0" err="1">
                <a:solidFill>
                  <a:srgbClr val="F8FAFC"/>
                </a:solidFill>
                <a:latin typeface="Lato"/>
              </a:rPr>
              <a:t>Tecnológica</a:t>
            </a:r>
            <a:r>
              <a:rPr sz="1950" b="0" i="0" u="none" dirty="0">
                <a:solidFill>
                  <a:srgbClr val="F8FAFC"/>
                </a:solidFill>
                <a:latin typeface="Lato"/>
              </a:rPr>
              <a:t> de Honduras (UTH)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0775" y="3694807"/>
            <a:ext cx="74104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D8E7A79-4290-1C56-86BA-C719A3FA7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54" y="4608950"/>
            <a:ext cx="2135876" cy="2135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794" y="1004374"/>
            <a:ext cx="5300662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150" b="1" dirty="0">
                <a:solidFill>
                  <a:srgbClr val="0F172A"/>
                </a:solidFill>
                <a:latin typeface="Poppins"/>
              </a:rPr>
              <a:t>Descripción del Problema</a:t>
            </a:r>
            <a:endParaRPr sz="31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2057400"/>
            <a:ext cx="5048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476500"/>
            <a:ext cx="5048250" cy="1462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Lato"/>
              </a:rPr>
              <a:t>La gestión eficiente de la información organizacional, abarcando empleados, departamentos, cargos y proyectos, es un pilar fundamental para cualquier empresa moderna.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67782"/>
            <a:ext cx="5048250" cy="2194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Lato"/>
              </a:rPr>
              <a:t>Cuando estos datos se administran de forma manual o dispersa en hojas de cálculo, resulta sumamente complejo mantener la integridad de los registros, controlar las dependencias entre entidades y generar reportes consolidados y confiables para la toma de decisiones estratégicas.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85925"/>
            <a:ext cx="3429000" cy="48208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685925"/>
            <a:ext cx="3429000" cy="48208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685925"/>
            <a:ext cx="3429000" cy="4820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813" y="2943225"/>
            <a:ext cx="298037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293B"/>
                </a:solidFill>
                <a:latin typeface="Poppins SemiBold"/>
              </a:rPr>
              <a:t>Aplicación de POO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24250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Modelar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entidades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del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dominio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empresarial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aplicando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rigurosamente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los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principios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de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encapsulamiento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herencia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y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polimorfismo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650" b="0" i="0" u="none" dirty="0" err="1">
                <a:solidFill>
                  <a:srgbClr val="334155"/>
                </a:solidFill>
                <a:latin typeface="Lato"/>
              </a:rPr>
              <a:t>en</a:t>
            </a:r>
            <a:r>
              <a:rPr sz="1650" b="0" i="0" u="none" dirty="0">
                <a:solidFill>
                  <a:srgbClr val="334155"/>
                </a:solidFill>
                <a:latin typeface="Lato"/>
              </a:rPr>
              <a:t> Java.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5813" y="2943225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293B"/>
                </a:solidFill>
                <a:latin typeface="Poppins SemiBold"/>
              </a:rPr>
              <a:t>Arquitectura Robusta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962400"/>
            <a:ext cx="28384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Implementar una arquitectura en cinco capas (Modelo, DAO, Controlador, Vista y Conexión) para separar responsabilidades y facilitar el mantenimiento.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5813" y="2943225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293B"/>
                </a:solidFill>
                <a:latin typeface="Poppins SemiBold"/>
              </a:rPr>
              <a:t>Persistencia Segura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962400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Desarrollar operaciones CRUD completas y seguras utilizando JDBC y SQLite, garantizando la integridad referencial de los datos.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7387" y="2133600"/>
            <a:ext cx="657225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0725" y="2133600"/>
            <a:ext cx="590550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2133600"/>
            <a:ext cx="457200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oppins"/>
              </a:rPr>
              <a:t>Objetivos del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5360"/>
            <a:ext cx="5238750" cy="316170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405360"/>
            <a:ext cx="5238750" cy="3161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2786360"/>
            <a:ext cx="464058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E40AF"/>
                </a:solidFill>
                <a:latin typeface="Poppins SemiBold"/>
              </a:rPr>
              <a:t>Gestión Integral (CRUD)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367385"/>
            <a:ext cx="441960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El sistema permite realizar operaciones completas de creación, lectura, actualización y eliminación para seis entidades fundamentales: Países, Departamentos, Cargos, Empleados, Proyectos y sus respectivas Asignaciones.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2786360"/>
            <a:ext cx="464058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E40AF"/>
                </a:solidFill>
                <a:latin typeface="Poppins SemiBold"/>
              </a:rPr>
              <a:t>Interfaz MDI y Reportes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367385"/>
            <a:ext cx="441960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Equipado con un Panel de Control (Dashboard) con métricas en tiempo real, interfaz de múltiples ventanas (MDI) para navegación fluida, sistema de autenticación y capacidad de exportar datos a formatos PDF y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oppins"/>
              </a:rPr>
              <a:t>Funcionalidades Principales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43372"/>
            <a:ext cx="3429000" cy="44856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743372"/>
            <a:ext cx="3429000" cy="44856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743372"/>
            <a:ext cx="3429000" cy="44856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813" y="3000672"/>
            <a:ext cx="298037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293B"/>
                </a:solidFill>
                <a:latin typeface="Poppins SemiBold"/>
              </a:rPr>
              <a:t>Java SE &amp; Swing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81697"/>
            <a:ext cx="28384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Lenguaje principal de desarrollo y biblioteca de componentes gráficos para la construcción de una interfaz de escritorio robusta y estructurada.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5813" y="3000672"/>
            <a:ext cx="298037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293B"/>
                </a:solidFill>
                <a:latin typeface="Poppins SemiBold"/>
              </a:rPr>
              <a:t>SQLite &amp; JDBC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581697"/>
            <a:ext cx="2838450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Motor de base de datos relacional embebido, utilizado junto con el driver JDBC para garantizar la persistencia local de la información sin requerir servidores externos.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5813" y="3000672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293B"/>
                </a:solidFill>
                <a:latin typeface="Poppins SemiBold"/>
              </a:rPr>
              <a:t>Herramientas Auxiliares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4019847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334155"/>
                </a:solidFill>
                <a:latin typeface="Lato"/>
              </a:rPr>
              <a:t>Gestión de dependencias con Maven, control de versiones colaborativo con Git/GitHub y generación dinámica de reportes con la librería iText 5.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737" y="2191047"/>
            <a:ext cx="390525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4062" y="2191047"/>
            <a:ext cx="523875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4062" y="2191047"/>
            <a:ext cx="523875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oppins"/>
              </a:rPr>
              <a:t>Stack Tecnológico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5300662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oppins"/>
              </a:rPr>
              <a:t>Experiencia de Usuario (UI)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057400"/>
            <a:ext cx="5048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476500"/>
            <a:ext cx="5048250" cy="1828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Lato"/>
              </a:rPr>
              <a:t>El sistema está diseñado bajo el estándar MDI (Multiple Document Interface), permitiendo a los usuarios gestionar diversos módulos organizacionales de forma simultánea dentro de un mismo entorno.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33453"/>
            <a:ext cx="5048250" cy="1828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334155"/>
                </a:solidFill>
                <a:latin typeface="Lato"/>
              </a:rPr>
              <a:t>El Dashboard principal consolida la información vital del negocio, ofreciendo métricas instantáneas sobre el volumen de personal, presupuestos y distribución geográfica, optimizando la interacción y la visibilidad de los datos.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1020D78-EAEC-4803-ADE1-2BD4EB061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561" y="2248347"/>
            <a:ext cx="6355120" cy="4215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742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2687"/>
            <a:ext cx="3429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52687"/>
            <a:ext cx="342900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452687"/>
            <a:ext cx="3429000" cy="2381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072062"/>
            <a:ext cx="3429000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b="0" i="0" u="none" dirty="0">
                <a:solidFill>
                  <a:srgbClr val="1E293B"/>
                </a:solidFill>
                <a:latin typeface="Lato SemiBold"/>
              </a:rPr>
              <a:t>Módulo de países</a:t>
            </a:r>
            <a:endParaRPr sz="150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1500" y="5072062"/>
            <a:ext cx="3429000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dirty="0">
                <a:solidFill>
                  <a:srgbClr val="1E293B"/>
                </a:solidFill>
                <a:latin typeface="Lato SemiBold"/>
              </a:rPr>
              <a:t>Módulo de departamentos</a:t>
            </a:r>
            <a:endParaRPr sz="150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91500" y="5072062"/>
            <a:ext cx="3429000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dirty="0">
                <a:solidFill>
                  <a:srgbClr val="1E293B"/>
                </a:solidFill>
                <a:latin typeface="Lato SemiBold"/>
              </a:rPr>
              <a:t>Módulo de cargos</a:t>
            </a:r>
            <a:endParaRPr sz="1500" b="0" i="0" u="none" dirty="0">
              <a:solidFill>
                <a:srgbClr val="1E293B"/>
              </a:solidFill>
              <a:latin typeface="Lato SemiBold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490787"/>
            <a:ext cx="3352800" cy="2305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490787"/>
            <a:ext cx="3352800" cy="2305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490787"/>
            <a:ext cx="3352800" cy="2305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150" b="1" dirty="0">
                <a:solidFill>
                  <a:srgbClr val="0F172A"/>
                </a:solidFill>
                <a:latin typeface="Poppins"/>
              </a:rPr>
              <a:t>Módulos del Sistema</a:t>
            </a:r>
            <a:endParaRPr sz="31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F6D6D5D-2020-45D8-ADAC-EEC2BED31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480" y="2507224"/>
            <a:ext cx="3852133" cy="225946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AF80C48-D9DE-402A-BC13-441FF3A1BF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1643" y="2504842"/>
            <a:ext cx="3848713" cy="22594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60C4AA9-DB99-4F55-AEB1-5CB2164000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86" y="2507224"/>
            <a:ext cx="3858995" cy="225946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4003A-BFFA-F4F4-94B3-0B7A1B66A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AB00E36-8823-95DC-5908-B901466A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8241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EE480E0-3356-FB1D-6092-67A0FEF0E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52687"/>
            <a:ext cx="3429000" cy="23812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C6F4F7B5-E181-877D-03C7-C25464EC6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52687"/>
            <a:ext cx="3429000" cy="23812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4642004A-735E-E905-899E-4733D55D7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2452687"/>
            <a:ext cx="3429000" cy="2381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A68FCC-C0FF-8674-41B5-41FD8B24ED55}"/>
              </a:ext>
            </a:extLst>
          </p:cNvPr>
          <p:cNvSpPr txBox="1"/>
          <p:nvPr/>
        </p:nvSpPr>
        <p:spPr>
          <a:xfrm>
            <a:off x="571500" y="5072062"/>
            <a:ext cx="3429000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b="0" i="0" u="none" dirty="0">
                <a:solidFill>
                  <a:srgbClr val="1E293B"/>
                </a:solidFill>
                <a:latin typeface="Lato SemiBold"/>
              </a:rPr>
              <a:t>Módulo </a:t>
            </a:r>
            <a:r>
              <a:rPr lang="es-ES" sz="1500" dirty="0">
                <a:solidFill>
                  <a:srgbClr val="1E293B"/>
                </a:solidFill>
                <a:latin typeface="Lato SemiBold"/>
              </a:rPr>
              <a:t>de Empleados</a:t>
            </a:r>
            <a:endParaRPr sz="150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18CB23-0F1A-2E67-48C0-24D30907F270}"/>
              </a:ext>
            </a:extLst>
          </p:cNvPr>
          <p:cNvSpPr txBox="1"/>
          <p:nvPr/>
        </p:nvSpPr>
        <p:spPr>
          <a:xfrm>
            <a:off x="4381500" y="5072062"/>
            <a:ext cx="3429000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dirty="0">
                <a:solidFill>
                  <a:srgbClr val="1E293B"/>
                </a:solidFill>
                <a:latin typeface="Lato SemiBold"/>
              </a:rPr>
              <a:t>Módulo de Proyectos</a:t>
            </a:r>
            <a:endParaRPr sz="150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462EC-753E-5809-BF5F-0E1435F54911}"/>
              </a:ext>
            </a:extLst>
          </p:cNvPr>
          <p:cNvSpPr txBox="1"/>
          <p:nvPr/>
        </p:nvSpPr>
        <p:spPr>
          <a:xfrm>
            <a:off x="8191500" y="5072062"/>
            <a:ext cx="3429000" cy="271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dirty="0">
                <a:solidFill>
                  <a:srgbClr val="1E293B"/>
                </a:solidFill>
                <a:latin typeface="Lato SemiBold"/>
              </a:rPr>
              <a:t>Módulo de Asignaciones</a:t>
            </a:r>
            <a:endParaRPr sz="1500" b="0" i="0" u="none" dirty="0">
              <a:solidFill>
                <a:srgbClr val="1E293B"/>
              </a:solidFill>
              <a:latin typeface="Lato SemiBold"/>
            </a:endParaRP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BF862BD3-B28B-8200-F4B0-ECFD56ED8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490787"/>
            <a:ext cx="3352800" cy="230505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A5F80310-8D44-FB06-A691-97DDB8B572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490787"/>
            <a:ext cx="3352800" cy="230505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E1A95C3A-148E-145F-2051-F163D719CE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490787"/>
            <a:ext cx="3352800" cy="2305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CE85F7-5755-DA4F-7953-37D440086600}"/>
              </a:ext>
            </a:extLst>
          </p:cNvPr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3150" b="1" dirty="0">
                <a:solidFill>
                  <a:srgbClr val="0F172A"/>
                </a:solidFill>
                <a:latin typeface="Poppins"/>
              </a:rPr>
              <a:t>Módulos del Sistema</a:t>
            </a:r>
            <a:endParaRPr sz="31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80D036-E963-91EB-B268-52B68FC96975}"/>
              </a:ext>
            </a:extLst>
          </p:cNvPr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451C2C7-D127-4250-A9CB-E646A9876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" y="2509837"/>
            <a:ext cx="3907797" cy="2286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85C2FFF-6F8D-46AC-8118-70D6AA2872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5292" y="2490787"/>
            <a:ext cx="3900488" cy="227765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D8EB3DD-1ADA-4469-A33B-90CBCD19E5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9450" y="2476827"/>
            <a:ext cx="3900487" cy="227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2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534247"/>
            <a:ext cx="9525000" cy="1695793"/>
          </a:xfrm>
          <a:prstGeom prst="roundRect">
            <a:avLst>
              <a:gd name="adj" fmla="val 39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95500" y="1924050"/>
            <a:ext cx="8477250" cy="955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400" b="1" i="0" u="none" dirty="0" err="1">
                <a:solidFill>
                  <a:srgbClr val="0F172A"/>
                </a:solidFill>
                <a:latin typeface="Lato"/>
              </a:rPr>
              <a:t>Modelado</a:t>
            </a:r>
            <a:r>
              <a:rPr sz="1400" b="1" i="0" u="none" dirty="0">
                <a:solidFill>
                  <a:srgbClr val="0F172A"/>
                </a:solidFill>
                <a:latin typeface="Lato"/>
              </a:rPr>
              <a:t> </a:t>
            </a:r>
            <a:r>
              <a:rPr sz="1400" b="1" i="0" u="none" dirty="0" err="1">
                <a:solidFill>
                  <a:srgbClr val="0F172A"/>
                </a:solidFill>
                <a:latin typeface="Lato"/>
              </a:rPr>
              <a:t>Eficaz</a:t>
            </a:r>
            <a:r>
              <a:rPr sz="1400" b="1" i="0" u="none" dirty="0">
                <a:solidFill>
                  <a:srgbClr val="0F172A"/>
                </a:solidFill>
                <a:latin typeface="Lato"/>
              </a:rPr>
              <a:t> con POO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La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aplicación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rigurosa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los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pilares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 la POO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comprobó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su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eficacia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para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estructurar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problemas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reales,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facilitar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el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mantenimiento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futuro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y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reducir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la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redundancia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código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el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sistema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3537179"/>
            <a:ext cx="9525000" cy="1365721"/>
          </a:xfrm>
          <a:prstGeom prst="roundRect">
            <a:avLst>
              <a:gd name="adj" fmla="val 47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95500" y="4085778"/>
            <a:ext cx="8477250" cy="621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400" b="1" i="0" u="none" dirty="0" err="1">
                <a:solidFill>
                  <a:srgbClr val="0F172A"/>
                </a:solidFill>
                <a:latin typeface="Lato"/>
              </a:rPr>
              <a:t>Arquitectura</a:t>
            </a:r>
            <a:r>
              <a:rPr sz="1400" b="1" i="0" u="none" dirty="0">
                <a:solidFill>
                  <a:srgbClr val="0F172A"/>
                </a:solidFill>
                <a:latin typeface="Lato"/>
              </a:rPr>
              <a:t> </a:t>
            </a:r>
            <a:r>
              <a:rPr sz="1400" b="1" i="0" u="none" dirty="0" err="1">
                <a:solidFill>
                  <a:srgbClr val="0F172A"/>
                </a:solidFill>
                <a:latin typeface="Lato"/>
              </a:rPr>
              <a:t>Desacoplada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La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separación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del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código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capas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lógicas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(Modelo, DAO,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Controlador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, Vista)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fue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clave para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permitir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el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desarrollo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paralelo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 </a:t>
            </a:r>
            <a:r>
              <a:rPr lang="es-ES" sz="1400" dirty="0">
                <a:solidFill>
                  <a:srgbClr val="334155"/>
                </a:solidFill>
                <a:latin typeface="Lato"/>
              </a:rPr>
              <a:t>estas 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sin </a:t>
            </a:r>
            <a:r>
              <a:rPr lang="es-ES" sz="1400" b="0" i="0" u="none" dirty="0">
                <a:solidFill>
                  <a:srgbClr val="334155"/>
                </a:solidFill>
                <a:latin typeface="Lato"/>
              </a:rPr>
              <a:t>generar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conflictos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s-ES" sz="1400" b="0" i="0" u="none" dirty="0">
                <a:solidFill>
                  <a:srgbClr val="334155"/>
                </a:solidFill>
                <a:latin typeface="Lato"/>
              </a:rPr>
              <a:t>significativos de integración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5400934"/>
            <a:ext cx="9525000" cy="1365721"/>
          </a:xfrm>
          <a:prstGeom prst="roundRect">
            <a:avLst>
              <a:gd name="adj" fmla="val 47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95500" y="5912346"/>
            <a:ext cx="8477250" cy="621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400" b="1" i="0" u="none" dirty="0" err="1">
                <a:solidFill>
                  <a:srgbClr val="0F172A"/>
                </a:solidFill>
                <a:latin typeface="Lato"/>
              </a:rPr>
              <a:t>Persistencia</a:t>
            </a:r>
            <a:r>
              <a:rPr sz="1400" b="1" i="0" u="none" dirty="0">
                <a:solidFill>
                  <a:srgbClr val="0F172A"/>
                </a:solidFill>
                <a:latin typeface="Lato"/>
              </a:rPr>
              <a:t> </a:t>
            </a:r>
            <a:r>
              <a:rPr sz="1400" b="1" i="0" u="none" dirty="0" err="1">
                <a:solidFill>
                  <a:srgbClr val="0F172A"/>
                </a:solidFill>
                <a:latin typeface="Lato"/>
              </a:rPr>
              <a:t>Óptima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La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integración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 SQLite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mediante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el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patrón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Singleton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demostró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ser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una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solución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altamente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eficiente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,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segura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y portable para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aplicaciones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de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escritorio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Lato"/>
              </a:rPr>
              <a:t>corporativas</a:t>
            </a:r>
            <a:r>
              <a:rPr sz="1400" b="0" i="0" u="none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1947862"/>
            <a:ext cx="247650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4109591"/>
            <a:ext cx="247650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5936158"/>
            <a:ext cx="247650" cy="295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F172A"/>
                </a:solidFill>
                <a:latin typeface="Poppins"/>
              </a:rPr>
              <a:t>Conclusiones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66825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25" y="3164085"/>
            <a:ext cx="4857750" cy="81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57400"/>
            <a:ext cx="11049000" cy="5307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4400" b="0" i="0" u="none" dirty="0">
                <a:solidFill>
                  <a:srgbClr val="334155"/>
                </a:solidFill>
                <a:latin typeface="Kristen ITC" panose="03050502040202030202" pitchFamily="66" charset="0"/>
              </a:rPr>
              <a:t>Gracias </a:t>
            </a:r>
            <a:r>
              <a:rPr sz="4400" b="0" i="0" u="none" dirty="0" err="1">
                <a:solidFill>
                  <a:srgbClr val="334155"/>
                </a:solidFill>
                <a:latin typeface="Kristen ITC" panose="03050502040202030202" pitchFamily="66" charset="0"/>
              </a:rPr>
              <a:t>por</a:t>
            </a:r>
            <a:r>
              <a:rPr sz="4400" b="0" i="0" u="none" dirty="0">
                <a:solidFill>
                  <a:srgbClr val="334155"/>
                </a:solidFill>
                <a:latin typeface="Kristen ITC" panose="03050502040202030202" pitchFamily="66" charset="0"/>
              </a:rPr>
              <a:t> </a:t>
            </a:r>
            <a:r>
              <a:rPr sz="4400" b="0" i="0" u="none" dirty="0" err="1">
                <a:solidFill>
                  <a:srgbClr val="334155"/>
                </a:solidFill>
                <a:latin typeface="Kristen ITC" panose="03050502040202030202" pitchFamily="66" charset="0"/>
              </a:rPr>
              <a:t>su</a:t>
            </a:r>
            <a:r>
              <a:rPr sz="4400" b="0" i="0" u="none" dirty="0">
                <a:solidFill>
                  <a:srgbClr val="334155"/>
                </a:solidFill>
                <a:latin typeface="Kristen ITC" panose="03050502040202030202" pitchFamily="66" charset="0"/>
              </a:rPr>
              <a:t> </a:t>
            </a:r>
            <a:r>
              <a:rPr sz="4400" b="0" i="0" u="none" dirty="0" err="1">
                <a:solidFill>
                  <a:srgbClr val="334155"/>
                </a:solidFill>
                <a:latin typeface="Kristen ITC" panose="03050502040202030202" pitchFamily="66" charset="0"/>
              </a:rPr>
              <a:t>atención</a:t>
            </a:r>
            <a:r>
              <a:rPr sz="4400" b="0" i="0" u="none" dirty="0">
                <a:solidFill>
                  <a:srgbClr val="334155"/>
                </a:solidFill>
                <a:latin typeface="Kristen ITC" panose="03050502040202030202" pitchFamily="66" charset="0"/>
              </a:rPr>
              <a:t>.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534</Words>
  <Application>Microsoft Office PowerPoint</Application>
  <PresentationFormat>Panorámica</PresentationFormat>
  <Paragraphs>41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9" baseType="lpstr">
      <vt:lpstr>Aptos</vt:lpstr>
      <vt:lpstr>Arial</vt:lpstr>
      <vt:lpstr>Calibri</vt:lpstr>
      <vt:lpstr>Kristen ITC</vt:lpstr>
      <vt:lpstr>Lato</vt:lpstr>
      <vt:lpstr>Lato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Audrey Castro</cp:lastModifiedBy>
  <cp:revision>3</cp:revision>
  <dcterms:created xsi:type="dcterms:W3CDTF">2013-01-27T09:14:16Z</dcterms:created>
  <dcterms:modified xsi:type="dcterms:W3CDTF">2026-08-04T00:02:16Z</dcterms:modified>
  <cp:category/>
</cp:coreProperties>
</file>